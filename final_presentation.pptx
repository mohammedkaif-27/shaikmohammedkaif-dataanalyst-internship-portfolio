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8E8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8E8FF"/>
                </a:solidFill>
                <a:latin typeface="Arial"/>
              </a:rPr>
              <a:t>Monthly Revenue Trend (₹)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C6A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6AF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558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A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D4A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D16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6B9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129154</c:v>
                </c:pt>
                <c:pt idx="1">
                  <c:v>48493</c:v>
                </c:pt>
                <c:pt idx="2">
                  <c:v>100110</c:v>
                </c:pt>
                <c:pt idx="3">
                  <c:v>106206</c:v>
                </c:pt>
                <c:pt idx="4">
                  <c:v>76909</c:v>
                </c:pt>
                <c:pt idx="5">
                  <c:v>37960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0A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2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0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101E"/>
        </a:solidFill>
        <a:ln>
          <a:noFill/>
        </a:ln>
        <a:effectLst/>
      </c:spPr>
    </c:plotArea>
    <c:plotVisOnly val="1"/>
    <c:dispBlanksAs val="span"/>
  </c:chart>
  <c:spPr>
    <a:solidFill>
      <a:srgbClr val="10101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8E8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8E8FF"/>
                </a:solidFill>
                <a:latin typeface="Arial"/>
              </a:rPr>
              <a:t>Revenue Share by Segment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6AF7"/>
              </a:solidFill>
              <a:effectLst/>
            </c:spPr>
          </c:dPt>
          <c:dPt>
            <c:idx val="1"/>
            <c:bubble3D val="0"/>
            <c:spPr>
              <a:solidFill>
                <a:srgbClr val="00D4AA"/>
              </a:solidFill>
              <a:effectLst/>
            </c:spPr>
          </c:dPt>
          <c:dPt>
            <c:idx val="2"/>
            <c:bubble3D val="0"/>
            <c:spPr>
              <a:solidFill>
                <a:srgbClr val="EF476F"/>
              </a:solidFill>
              <a:effectLst/>
            </c:spPr>
          </c:dPt>
          <c:dPt>
            <c:idx val="3"/>
            <c:bubble3D val="0"/>
            <c:spPr>
              <a:solidFill>
                <a:srgbClr val="FF6B9D"/>
              </a:solidFill>
              <a:effectLst/>
            </c:spPr>
          </c:dPt>
          <c:dPt>
            <c:idx val="4"/>
            <c:bubble3D val="0"/>
            <c:spPr>
              <a:solidFill>
                <a:srgbClr val="FFD16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Champions</c:v>
                </c:pt>
                <c:pt idx="1">
                  <c:v>Loyalists</c:v>
                </c:pt>
                <c:pt idx="2">
                  <c:v>Lost</c:v>
                </c:pt>
                <c:pt idx="3">
                  <c:v>At-Risk</c:v>
                </c:pt>
                <c:pt idx="4">
                  <c:v>Potential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158695</c:v>
                </c:pt>
                <c:pt idx="1">
                  <c:v>245690</c:v>
                </c:pt>
                <c:pt idx="2">
                  <c:v>54438</c:v>
                </c:pt>
                <c:pt idx="3">
                  <c:v>36509</c:v>
                </c:pt>
                <c:pt idx="4">
                  <c:v>3500</c:v>
                </c:pt>
              </c:numCache>
            </c:numRef>
          </c:val>
        </c:ser>
        <c:firstSliceAng val="0"/>
        <c:holeSize val="55"/>
      </c:doughnutChart>
      <c:spPr>
        <a:solidFill>
          <a:srgbClr val="0808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E8E8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8081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E8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8E8FF"/>
                </a:solidFill>
                <a:latin typeface="Arial"/>
              </a:rPr>
              <a:t>Average Order Value (₹) by Payment Method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Order Value</c:v>
                </c:pt>
              </c:strCache>
            </c:strRef>
          </c:tx>
          <c:spPr>
            <a:solidFill>
              <a:srgbClr val="7C6A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6AF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070A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Credit Card
(n=19)</c:v>
                  </c:pt>
                  <c:pt idx="1">
                    <c:v>Non-Credit Card
(n=41)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17297</c:v>
                </c:pt>
                <c:pt idx="1">
                  <c:v>4151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8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2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0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101E"/>
        </a:solidFill>
        <a:ln>
          <a:noFill/>
        </a:ln>
        <a:effectLst/>
      </c:spPr>
    </c:plotArea>
    <c:plotVisOnly val="1"/>
    <c:dispBlanksAs val="span"/>
  </c:chart>
  <c:spPr>
    <a:solidFill>
      <a:srgbClr val="10101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E8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8E8FF"/>
                </a:solidFill>
                <a:latin typeface="Arial"/>
              </a:rPr>
              <a:t>Order Status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Electronics</c:v>
                  </c:pt>
                  <c:pt idx="1">
                    <c:v>Furniture</c:v>
                  </c:pt>
                  <c:pt idx="2">
                    <c:v>Sports</c:v>
                  </c:pt>
                  <c:pt idx="3">
                    <c:v>Apparel</c:v>
                  </c:pt>
                  <c:pt idx="4">
                    <c:v>Kitchen</c:v>
                  </c:pt>
                  <c:pt idx="5">
                    <c:v>Beauty</c:v>
                  </c:pt>
                  <c:pt idx="6">
                    <c:v>Accessories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</c:v>
                </c:pt>
                <c:pt idx="1">
                  <c:v>9</c:v>
                </c:pt>
                <c:pt idx="2">
                  <c:v>4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Cancelled</c:v>
                </c:pt>
              </c:strCache>
            </c:strRef>
          </c:tx>
          <c:spPr>
            <a:solidFill>
              <a:srgbClr val="EF47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Electronics</c:v>
                  </c:pt>
                  <c:pt idx="1">
                    <c:v>Furniture</c:v>
                  </c:pt>
                  <c:pt idx="2">
                    <c:v>Sports</c:v>
                  </c:pt>
                  <c:pt idx="3">
                    <c:v>Apparel</c:v>
                  </c:pt>
                  <c:pt idx="4">
                    <c:v>Kitchen</c:v>
                  </c:pt>
                  <c:pt idx="5">
                    <c:v>Beauty</c:v>
                  </c:pt>
                  <c:pt idx="6">
                    <c:v>Accessories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Pending</c:v>
                </c:pt>
              </c:strCache>
            </c:strRef>
          </c:tx>
          <c:spPr>
            <a:solidFill>
              <a:srgbClr val="FFD1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Electronics</c:v>
                  </c:pt>
                  <c:pt idx="1">
                    <c:v>Furniture</c:v>
                  </c:pt>
                  <c:pt idx="2">
                    <c:v>Sports</c:v>
                  </c:pt>
                  <c:pt idx="3">
                    <c:v>Apparel</c:v>
                  </c:pt>
                  <c:pt idx="4">
                    <c:v>Kitchen</c:v>
                  </c:pt>
                  <c:pt idx="5">
                    <c:v>Beauty</c:v>
                  </c:pt>
                  <c:pt idx="6">
                    <c:v>Accessories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8E8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2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0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101E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E8E8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0101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D0D1F"/>
          </a:solidFill>
          <a:ln w="12700">
            <a:solidFill>
              <a:srgbClr val="0D0D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narrative across all 4 phases of analysis — data wrangling,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analysis, customer segmentation, and statistical validation.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5669280" cy="1280160"/>
          </a:xfrm>
          <a:prstGeom prst="rect">
            <a:avLst/>
          </a:prstGeom>
          <a:solidFill>
            <a:srgbClr val="10101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639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36393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Mohammed Kaif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9136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39136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· ApexPlanet Software Pvt. Ltd.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187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37360" y="41879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Transactions · Jan–Jun 2024 · 60 Orders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4622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44622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Data Storytelling &amp; Statistical Validation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731520"/>
            <a:ext cx="1645920" cy="1005840"/>
          </a:xfrm>
          <a:prstGeom prst="rect">
            <a:avLst/>
          </a:prstGeom>
          <a:solidFill>
            <a:srgbClr val="10101E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8046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₹4.98L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66560" y="13350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965960"/>
            <a:ext cx="1645920" cy="1005840"/>
          </a:xfrm>
          <a:prstGeom prst="rect">
            <a:avLst/>
          </a:prstGeom>
          <a:solidFill>
            <a:srgbClr val="10101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20391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25694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3200400"/>
            <a:ext cx="1645920" cy="1005840"/>
          </a:xfrm>
          <a:prstGeom prst="rect">
            <a:avLst/>
          </a:prstGeom>
          <a:solidFill>
            <a:srgbClr val="10101E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32735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66560" y="38039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60-Day Data Analytics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Story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6 months of retail sales data to uncover revenue drivers, customer behavior patterns, and actionable opportunities — enabling leadership to make confident, data-backed business decisions.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2057400" cy="2651760"/>
          </a:xfrm>
          <a:prstGeom prst="rect">
            <a:avLst/>
          </a:prstGeom>
          <a:solidFill>
            <a:srgbClr val="10101E"/>
          </a:solidFill>
          <a:ln w="12700">
            <a:solidFill>
              <a:srgbClr val="7C6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828800"/>
            <a:ext cx="2057400" cy="54864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920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834640"/>
            <a:ext cx="2057400" cy="1463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60 orders — fixed 3 date formats,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duplicates, engineered 10 new features.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87168" y="1828800"/>
            <a:ext cx="2057400" cy="2651760"/>
          </a:xfrm>
          <a:prstGeom prst="rect">
            <a:avLst/>
          </a:prstGeom>
          <a:solidFill>
            <a:srgbClr val="10101E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87168" y="1828800"/>
            <a:ext cx="20574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920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87168" y="2423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87168" y="2834640"/>
            <a:ext cx="2057400" cy="1463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Uncovered 7 key insights — Electronics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45.7% revenue, CC users spend 3.7× more.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0016" y="1828800"/>
            <a:ext cx="2057400" cy="2651760"/>
          </a:xfrm>
          <a:prstGeom prst="rect">
            <a:avLst/>
          </a:prstGeom>
          <a:solidFill>
            <a:srgbClr val="10101E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0016" y="1828800"/>
            <a:ext cx="20574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1920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00016" y="2423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0016" y="2834640"/>
            <a:ext cx="2057400" cy="1463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analysis: 5 segments identified.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(10 customers) = 31.8% of revenue.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12864" y="1828800"/>
            <a:ext cx="2057400" cy="2651760"/>
          </a:xfrm>
          <a:prstGeom prst="rect">
            <a:avLst/>
          </a:prstGeom>
          <a:solidFill>
            <a:srgbClr val="10101E"/>
          </a:solidFill>
          <a:ln w="12700">
            <a:solidFill>
              <a:srgbClr val="FF6B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12864" y="1828800"/>
            <a:ext cx="2057400" cy="54864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12864" y="1920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12864" y="2423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12864" y="2834640"/>
            <a:ext cx="2057400" cy="1463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hypotheses tested. Both statistically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at α = 0.05 (p &lt; 0.05).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0" y="2971800"/>
            <a:ext cx="256032" cy="274320"/>
          </a:xfrm>
          <a:prstGeom prst="rightArrow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98848" y="2971800"/>
            <a:ext cx="256032" cy="274320"/>
          </a:xfrm>
          <a:prstGeom prst="rightArrow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11696" y="2971800"/>
            <a:ext cx="256032" cy="274320"/>
          </a:xfrm>
          <a:prstGeom prst="rightArrow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loyalty program, launch Credit Card incentives, and run targeted re-engagement campaigns for At-Risk and Lost customer segments.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from Task 1 (Wrangling) · Task 2 (EDA) · Task 3 (Segmentation)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4160520" cy="1143000"/>
          </a:xfrm>
          <a:prstGeom prst="rect">
            <a:avLst/>
          </a:prstGeom>
          <a:solidFill>
            <a:srgbClr val="10101E"/>
          </a:solidFill>
          <a:ln w="12700">
            <a:solidFill>
              <a:srgbClr val="7C6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15568"/>
            <a:ext cx="54864" cy="114300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Revenue Concentration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9961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generate ₹2.18L — 43.7% of total revenue. All are high-ticket Electronics/Furniture items above ₹15,000.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115568"/>
            <a:ext cx="4160520" cy="1143000"/>
          </a:xfrm>
          <a:prstGeom prst="rect">
            <a:avLst/>
          </a:prstGeom>
          <a:solidFill>
            <a:srgbClr val="10101E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15568"/>
            <a:ext cx="54864" cy="1143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Payment Method Impact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49961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users average ₹17,297/order vs ₹4,151 for all others. CC = 31.7% of orders but 65.9% of revenue.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95728"/>
            <a:ext cx="4160520" cy="1143000"/>
          </a:xfrm>
          <a:prstGeom prst="rect">
            <a:avLst/>
          </a:prstGeom>
          <a:solidFill>
            <a:srgbClr val="10101E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95728"/>
            <a:ext cx="54864" cy="1143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68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Regional Opportunity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77977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&amp; East regions have highest avg order value (₹10,100+) despite fewer orders. Underserved premium markets.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395728"/>
            <a:ext cx="4160520" cy="1143000"/>
          </a:xfrm>
          <a:prstGeom prst="rect">
            <a:avLst/>
          </a:prstGeom>
          <a:solidFill>
            <a:srgbClr val="10101E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395728"/>
            <a:ext cx="54864" cy="11430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468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Retention Crisis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277977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96.7% of customers purchased only once. Only 2 repeat buyers in 6 months — a critical revenue leak requiring action.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75888"/>
            <a:ext cx="4160520" cy="1143000"/>
          </a:xfrm>
          <a:prstGeom prst="rect">
            <a:avLst/>
          </a:prstGeom>
          <a:solidFill>
            <a:srgbClr val="10101E"/>
          </a:solidFill>
          <a:ln w="12700">
            <a:solidFill>
              <a:srgbClr val="FF6B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75888"/>
            <a:ext cx="54864" cy="114300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Champion Segment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05993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Champions (16.7% of customers) drive ₹1.59L — 31.8% of revenue. Avg spend ₹15,870 — nearly 2× the overall average.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675888"/>
            <a:ext cx="4160520" cy="1143000"/>
          </a:xfrm>
          <a:prstGeom prst="rect">
            <a:avLst/>
          </a:prstGeom>
          <a:solidFill>
            <a:srgbClr val="10101E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675888"/>
            <a:ext cx="54864" cy="1143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Electronics Dominance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405993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= 45.7% of revenue from 26.7% of orders. Strong correlation (r=0.97) between unit price and order value.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777240"/>
          <a:ext cx="50292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577840" y="777240"/>
            <a:ext cx="3337560" cy="4023360"/>
          </a:xfrm>
          <a:prstGeom prst="rect">
            <a:avLst/>
          </a:prstGeom>
          <a:solidFill>
            <a:srgbClr val="10101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0" y="8961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Insights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623560" y="1298448"/>
            <a:ext cx="45720" cy="548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298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spike: ₹1.29L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60720" y="15727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single ₹67,500 Laptop order. Without it, Mar–Apr is the true peak.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623560" y="2048256"/>
            <a:ext cx="45720" cy="5486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0" y="20482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in Mar–Apr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760720" y="23225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peak of ₹1.0L–₹1.06L. Consistent demand in Q2 start.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23560" y="2798064"/>
            <a:ext cx="45720" cy="54864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27980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declining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760720" y="30723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drops to ₹38K. Seasonal dip — flash sales recommended.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623560" y="3547872"/>
            <a:ext cx="45720" cy="54864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0" y="35478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&gt; Q2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760720" y="38221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₹2.77L vs ₹2.21L. Plan promotions to boost Q2 performance.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 — 5 Segments Identified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114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617720" y="1005840"/>
            <a:ext cx="1005840" cy="256032"/>
          </a:xfrm>
          <a:prstGeom prst="rect">
            <a:avLst/>
          </a:prstGeom>
          <a:solidFill>
            <a:srgbClr val="7C6AF7"/>
          </a:solidFill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23560" y="1005840"/>
            <a:ext cx="731520" cy="256032"/>
          </a:xfrm>
          <a:prstGeom prst="rect">
            <a:avLst/>
          </a:prstGeom>
          <a:solidFill>
            <a:srgbClr val="7C6AF7"/>
          </a:solidFill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355080" y="1005840"/>
            <a:ext cx="822960" cy="256032"/>
          </a:xfrm>
          <a:prstGeom prst="rect">
            <a:avLst/>
          </a:prstGeom>
          <a:solidFill>
            <a:srgbClr val="7C6AF7"/>
          </a:solidFill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178040" y="1005840"/>
            <a:ext cx="822960" cy="256032"/>
          </a:xfrm>
          <a:prstGeom prst="rect">
            <a:avLst/>
          </a:prstGeom>
          <a:solidFill>
            <a:srgbClr val="7C6AF7"/>
          </a:solidFill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01000" y="1005840"/>
            <a:ext cx="914400" cy="256032"/>
          </a:xfrm>
          <a:prstGeom prst="rect">
            <a:avLst/>
          </a:prstGeom>
          <a:solidFill>
            <a:srgbClr val="7C6AF7"/>
          </a:solidFill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17720" y="1325880"/>
            <a:ext cx="4297680" cy="594360"/>
          </a:xfrm>
          <a:prstGeom prst="rect">
            <a:avLst/>
          </a:prstGeom>
          <a:solidFill>
            <a:srgbClr val="10101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7720" y="1399032"/>
            <a:ext cx="10058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23560" y="1399032"/>
            <a:ext cx="7315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355080" y="1399032"/>
            <a:ext cx="8229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₹1.59L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78040" y="1399032"/>
            <a:ext cx="8229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₹15,870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001000" y="1399032"/>
            <a:ext cx="9144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rewards + early access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617720" y="1984248"/>
            <a:ext cx="4297680" cy="594360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17720" y="2057400"/>
            <a:ext cx="10058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Loyalists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623560" y="2057400"/>
            <a:ext cx="7315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355080" y="2057400"/>
            <a:ext cx="8229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₹2.46L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178040" y="2057400"/>
            <a:ext cx="8229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₹7,925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00100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 + referral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617720" y="2642616"/>
            <a:ext cx="4297680" cy="594360"/>
          </a:xfrm>
          <a:prstGeom prst="rect">
            <a:avLst/>
          </a:prstGeom>
          <a:solidFill>
            <a:srgbClr val="10101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17720" y="2715768"/>
            <a:ext cx="10058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623560" y="2715768"/>
            <a:ext cx="7315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355080" y="2715768"/>
            <a:ext cx="8229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₹36.5K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178040" y="2715768"/>
            <a:ext cx="8229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₹3,319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001000" y="2715768"/>
            <a:ext cx="9144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 + 15% discount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617720" y="3300984"/>
            <a:ext cx="4297680" cy="594360"/>
          </a:xfrm>
          <a:prstGeom prst="rect">
            <a:avLst/>
          </a:prstGeom>
          <a:solidFill>
            <a:srgbClr val="1414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17720" y="3374136"/>
            <a:ext cx="10058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623560" y="3374136"/>
            <a:ext cx="7315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355080" y="3374136"/>
            <a:ext cx="8229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₹54.4K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178040" y="3374136"/>
            <a:ext cx="8229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₹10,888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001000" y="3374136"/>
            <a:ext cx="9144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campaign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617720" y="3959352"/>
            <a:ext cx="4297680" cy="594360"/>
          </a:xfrm>
          <a:prstGeom prst="rect">
            <a:avLst/>
          </a:prstGeom>
          <a:solidFill>
            <a:srgbClr val="10101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17720" y="4032504"/>
            <a:ext cx="10058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623560" y="4032504"/>
            <a:ext cx="7315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355080" y="4032504"/>
            <a:ext cx="8229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₹3.5K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178040" y="4032504"/>
            <a:ext cx="8229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₹3,500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8001000" y="4032504"/>
            <a:ext cx="9144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upsell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1 — Independent Samples T-Test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114800" cy="640080"/>
          </a:xfrm>
          <a:prstGeom prst="rect">
            <a:avLst/>
          </a:prstGeom>
          <a:solidFill>
            <a:srgbClr val="10101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2412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(Null): Credit Card and non-CC users have the SAME average order value. μ_cc = μ_non_cc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63440" y="987552"/>
            <a:ext cx="4206240" cy="640080"/>
          </a:xfrm>
          <a:prstGeom prst="rect">
            <a:avLst/>
          </a:prstGeom>
          <a:solidFill>
            <a:srgbClr val="10101E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0241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(Alternative): Credit Card users have a SIGNIFICANTLY HIGHER average order value. μ_cc &gt; μ_non_cc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1737360"/>
          <a:ext cx="43891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937760" y="1737360"/>
            <a:ext cx="3931920" cy="2926080"/>
          </a:xfrm>
          <a:prstGeom prst="rect">
            <a:avLst/>
          </a:prstGeom>
          <a:solidFill>
            <a:srgbClr val="10101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749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74920" y="22128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178040" y="22128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3.0072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7492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(one-tailed):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7804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0.0037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74920" y="30906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of Difference: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178040" y="30906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[₹3,990 – ₹22,302]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74920" y="35295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Level α: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178040" y="35295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74920" y="39684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178040" y="39684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 ✅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65760" y="4681728"/>
            <a:ext cx="8503920" cy="384048"/>
          </a:xfrm>
          <a:prstGeom prst="rect">
            <a:avLst/>
          </a:prstGeom>
          <a:solidFill>
            <a:srgbClr val="0D1520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Conclusion: p=0.0037 &lt; α=0.05. CC users spend ₹13,146 more per order — statistically significant. Introduce CC-exclusive EMI and cashback offers.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2 — Chi-Squared Test of Independence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114800" cy="640080"/>
          </a:xfrm>
          <a:prstGeom prst="rect">
            <a:avLst/>
          </a:prstGeom>
          <a:solidFill>
            <a:srgbClr val="10101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2412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(Null): Product category and order status are INDEPENDENT — no association exists.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63440" y="987552"/>
            <a:ext cx="4206240" cy="640080"/>
          </a:xfrm>
          <a:prstGeom prst="rect">
            <a:avLst/>
          </a:prstGeom>
          <a:solidFill>
            <a:srgbClr val="10101E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0241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(Alternative): Product category and order status are DEPENDENT — a significant association exists.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1737360"/>
          <a:ext cx="5303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852160" y="1737360"/>
            <a:ext cx="3017520" cy="2926080"/>
          </a:xfrm>
          <a:prstGeom prst="rect">
            <a:avLst/>
          </a:prstGeom>
          <a:solidFill>
            <a:srgbClr val="10101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89320" y="22128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26680" y="22128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27.8571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8932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2668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89320" y="3090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26680" y="30906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0.0329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89320" y="35295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Level α: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726680" y="35295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89320" y="39684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726680" y="39684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 ✅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65760" y="4681728"/>
            <a:ext cx="8503920" cy="384048"/>
          </a:xfrm>
          <a:prstGeom prst="rect">
            <a:avLst/>
          </a:prstGeom>
          <a:solidFill>
            <a:srgbClr val="0D1520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Conclusion: p=0.0329 &lt; α=0.05. Sports is the only category with Cancelled/Pending orders — a significant fulfillment risk. Action: Investigate Sports category logistics.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A0A18"/>
          </a:solidFill>
          <a:ln w="12700">
            <a:solidFill>
              <a:srgbClr val="0A0A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4069080" cy="1115568"/>
          </a:xfrm>
          <a:prstGeom prst="rect">
            <a:avLst/>
          </a:prstGeom>
          <a:solidFill>
            <a:srgbClr val="10101E"/>
          </a:solidFill>
          <a:ln w="12700">
            <a:solidFill>
              <a:srgbClr val="7C6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89888"/>
            <a:ext cx="54864" cy="1115568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264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792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Loyalty Program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04825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96.7% one-time buyers. A points-based loyalty tier could increase retention from 3.3% to 20%+ within 6 months.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389888"/>
            <a:ext cx="4069080" cy="1115568"/>
          </a:xfrm>
          <a:prstGeom prst="rect">
            <a:avLst/>
          </a:prstGeom>
          <a:solidFill>
            <a:srgbClr val="10101E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389888"/>
            <a:ext cx="54864" cy="11155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264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792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Incentives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04825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users spend 3.7× more (p=0.0037, statistically proven). Introduce EMI options and CC-exclusive cashback offers.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4069080" cy="1115568"/>
          </a:xfrm>
          <a:prstGeom prst="rect">
            <a:avLst/>
          </a:prstGeom>
          <a:solidFill>
            <a:srgbClr val="10101E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651760"/>
            <a:ext cx="54864" cy="11155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883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30540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At-Risk &amp; Lost Segments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31012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At-Risk + 5 Lost customers represent ₹91K recoverable revenue. A win-back campaign with 15% discount is the priority.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2651760"/>
            <a:ext cx="4069080" cy="1115568"/>
          </a:xfrm>
          <a:prstGeom prst="rect">
            <a:avLst/>
          </a:prstGeom>
          <a:solidFill>
            <a:srgbClr val="10101E"/>
          </a:solidFill>
          <a:ln w="12700">
            <a:solidFill>
              <a:srgbClr val="FF6B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651760"/>
            <a:ext cx="54864" cy="1115568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6883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30540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Sports Category Fulfillment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31012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is the ONLY category with cancellations/pending (χ²=27.86, p=0.0329). Investigate logistics and inventory.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0" y="3913632"/>
            <a:ext cx="4069080" cy="1115568"/>
          </a:xfrm>
          <a:prstGeom prst="rect">
            <a:avLst/>
          </a:prstGeom>
          <a:solidFill>
            <a:srgbClr val="10101E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0" y="3913632"/>
            <a:ext cx="54864" cy="11155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97480" y="3950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697480" y="4315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into North &amp; East Markets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97480" y="45720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order value at ₹10,100+ despite fewer orders. These are underserved premium markets with high growth potential.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Software Pvt. Ltd.  ·  60-Day Data Analytics Internship  ·  Task 4  ·  Shaik Mohammed Kaif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Analytics — Data Story &amp; Statistical Validation</dc:title>
  <dc:subject>PptxGenJS Presentation</dc:subject>
  <dc:creator>Shaik Mohammed Kaif</dc:creator>
  <cp:lastModifiedBy>Shaik Mohammed Kaif</cp:lastModifiedBy>
  <cp:revision>1</cp:revision>
  <dcterms:created xsi:type="dcterms:W3CDTF">2026-06-06T06:08:41Z</dcterms:created>
  <dcterms:modified xsi:type="dcterms:W3CDTF">2026-06-06T06:08:41Z</dcterms:modified>
</cp:coreProperties>
</file>